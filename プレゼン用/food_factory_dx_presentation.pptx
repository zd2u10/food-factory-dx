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2E36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3291840" cy="3291840"/>
          </a:xfrm>
          <a:prstGeom prst="ellipse">
            <a:avLst/>
          </a:prstGeom>
          <a:solidFill>
            <a:srgbClr val="0F3E47"/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4663440"/>
            <a:ext cx="2377440" cy="2377440"/>
          </a:xfrm>
          <a:prstGeom prst="ellipse">
            <a:avLst/>
          </a:prstGeom>
          <a:solidFill>
            <a:srgbClr val="134B55"/>
          </a:solidFill>
          <a:ln/>
        </p:spPr>
      </p:sp>
      <p:sp>
        <p:nvSpPr>
          <p:cNvPr id="5" name="Shape 3"/>
          <p:cNvSpPr/>
          <p:nvPr/>
        </p:nvSpPr>
        <p:spPr>
          <a:xfrm>
            <a:off x="10698480" y="5212080"/>
            <a:ext cx="1280160" cy="1280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食品工場DXシステム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紙・Excel管理からの脱却と、ロット単位のトレーサビリティ実現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943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篠田 秀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背景・課題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9F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105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6420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管理コストの重さ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2996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紙・Excelでの記録、転記作業に、日々の業務時間の多くを費やしていた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9F8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9535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80720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追跡コストの重さ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17296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有事の際、原因となったロットの特定に、複数の帳票を横断して調べる必要があった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9F8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40965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95020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対象規模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1596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最大7,000食/日を製造する、小規模食品工場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074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データ化により、日々の業務負荷を軽減し、企業力向上に時間を割けるようにする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システム概要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4F9F8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45920"/>
            <a:ext cx="3520440" cy="594360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バックエンド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/ Spring Boot 3.3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MyBatis(XMLに明示SQL)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64592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4F9F8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1645920"/>
            <a:ext cx="3520440" cy="594360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43400" y="164592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フロントエンド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42316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jotai / TanStack Query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164592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4F9F8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645920"/>
            <a:ext cx="3520440" cy="594360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38160" y="164592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開発方針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42316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ウォーターフォール型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個人開発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Git(masterブランチ1本)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フルスタック構成で、要件定義・設計・実装・DBスキーマ管理まで、一貫して個人で開発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主要機能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発注・入荷管理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検品で一部不合格が出た場合の「保留」対応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保留後、「結局受け入れる」「交換してもらう」を選択可能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産地・賞味期限をロット単位で記録し、以降の全工程の起点にする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0" y="1554480"/>
            <a:ext cx="5029200" cy="384048"/>
          </a:xfrm>
          <a:prstGeom prst="roundRect">
            <a:avLst>
              <a:gd name="adj" fmla="val 14286"/>
            </a:avLst>
          </a:prstGeom>
          <a:solidFill>
            <a:srgbClr val="E1F5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20840" y="15544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フロント  </a:t>
            </a:r>
            <a:pPr indent="0" marL="0">
              <a:buNone/>
            </a:pP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React(状態遷移に応じたフォーム分岐)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0" y="2048256"/>
            <a:ext cx="5029200" cy="1078992"/>
          </a:xfrm>
          <a:prstGeom prst="roundRect">
            <a:avLst>
              <a:gd name="adj" fmla="val 5085"/>
            </a:avLst>
          </a:prstGeom>
          <a:solidFill>
            <a:srgbClr val="FDEED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20840" y="2121408"/>
            <a:ext cx="4754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バック(アルゴリズム)  保留解決の状態管理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・hold_resolutionテーブルで保留の解決内容を記録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・「一部合格→保留→結局受け入れ/交換」を、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・material_lotのorigin_hold_idで来歴として繋げる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062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イメージ: 検品〜保留解決の流れ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2434590" cy="777240"/>
          </a:xfrm>
          <a:prstGeom prst="roundRect">
            <a:avLst>
              <a:gd name="adj" fmla="val 7059"/>
            </a:avLst>
          </a:prstGeom>
          <a:solidFill>
            <a:srgbClr val="5A6B6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3504" y="4617720"/>
            <a:ext cx="232486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一部不合格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83230" y="4997196"/>
            <a:ext cx="228600" cy="9144"/>
          </a:xfrm>
          <a:prstGeom prst="line">
            <a:avLst/>
          </a:prstGeom>
          <a:noFill/>
          <a:ln w="15875">
            <a:solidFill>
              <a:srgbClr val="5A6B6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11830" y="4617720"/>
            <a:ext cx="2434590" cy="777240"/>
          </a:xfrm>
          <a:prstGeom prst="roundRect">
            <a:avLst>
              <a:gd name="adj" fmla="val 7059"/>
            </a:avLst>
          </a:prstGeom>
          <a:solidFill>
            <a:srgbClr val="854F0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266694" y="4617720"/>
            <a:ext cx="232486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登録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46420" y="4997196"/>
            <a:ext cx="228600" cy="9144"/>
          </a:xfrm>
          <a:prstGeom prst="line">
            <a:avLst/>
          </a:prstGeom>
          <a:noFill/>
          <a:ln w="15875">
            <a:solidFill>
              <a:srgbClr val="5A6B6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875020" y="4617720"/>
            <a:ext cx="2434590" cy="77724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29884" y="4617720"/>
            <a:ext cx="232486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結局受け入れ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交換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09610" y="4997196"/>
            <a:ext cx="228600" cy="9144"/>
          </a:xfrm>
          <a:prstGeom prst="line">
            <a:avLst/>
          </a:prstGeom>
          <a:noFill/>
          <a:ln w="15875">
            <a:solidFill>
              <a:srgbClr val="5A6B6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538210" y="4617720"/>
            <a:ext cx="2434590" cy="777240"/>
          </a:xfrm>
          <a:prstGeom prst="roundRect">
            <a:avLst>
              <a:gd name="adj" fmla="val 7059"/>
            </a:avLst>
          </a:prstGeom>
          <a:solidFill>
            <a:srgbClr val="00A89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93074" y="4617720"/>
            <a:ext cx="232486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在庫へ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反映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主要機能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在庫管理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FEFO(先入先出)原則に基づく在庫管理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劣化・異物混入の疑いがあるロットに「要確認」フラグ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検査後の生存量登録、廃棄機能を、材料・商品それぞれに用意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0" y="1554480"/>
            <a:ext cx="5029200" cy="384048"/>
          </a:xfrm>
          <a:prstGeom prst="roundRect">
            <a:avLst>
              <a:gd name="adj" fmla="val 14286"/>
            </a:avLst>
          </a:prstGeom>
          <a:solidFill>
            <a:srgbClr val="E1F5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20840" y="15544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フロント  </a:t>
            </a:r>
            <a:pPr indent="0" marL="0">
              <a:buNone/>
            </a:pP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React(要確認セクションの動的表示)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0" y="2048256"/>
            <a:ext cx="5029200" cy="1078992"/>
          </a:xfrm>
          <a:prstGeom prst="roundRect">
            <a:avLst>
              <a:gd name="adj" fmla="val 5085"/>
            </a:avLst>
          </a:prstGeom>
          <a:solidFill>
            <a:srgbClr val="FDEED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20840" y="2121408"/>
            <a:ext cx="4754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バック(アルゴリズム)  動的除外の仕組み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・needs_reviewフラグを立てたロットは、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・FEFO選定クエリのWHERE句で即座に除外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・判定を1箇所に集約し、全機能へ横展開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062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イメージ: 要確認フラグのライフサイクル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2434590" cy="777240"/>
          </a:xfrm>
          <a:prstGeom prst="roundRect">
            <a:avLst>
              <a:gd name="adj" fmla="val 7059"/>
            </a:avLst>
          </a:prstGeom>
          <a:solidFill>
            <a:srgbClr val="5A6B6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3504" y="4617720"/>
            <a:ext cx="232486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劣化等の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疑いを発見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83230" y="4997196"/>
            <a:ext cx="228600" cy="9144"/>
          </a:xfrm>
          <a:prstGeom prst="line">
            <a:avLst/>
          </a:prstGeom>
          <a:noFill/>
          <a:ln w="15875">
            <a:solidFill>
              <a:srgbClr val="5A6B6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11830" y="4617720"/>
            <a:ext cx="2434590" cy="777240"/>
          </a:xfrm>
          <a:prstGeom prst="roundRect">
            <a:avLst>
              <a:gd name="adj" fmla="val 7059"/>
            </a:avLst>
          </a:prstGeom>
          <a:solidFill>
            <a:srgbClr val="854F0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266694" y="4617720"/>
            <a:ext cx="232486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要確認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フラグを付与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46420" y="4997196"/>
            <a:ext cx="228600" cy="9144"/>
          </a:xfrm>
          <a:prstGeom prst="line">
            <a:avLst/>
          </a:prstGeom>
          <a:noFill/>
          <a:ln w="15875">
            <a:solidFill>
              <a:srgbClr val="5A6B6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875020" y="4617720"/>
            <a:ext cx="2434590" cy="77724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29884" y="4617720"/>
            <a:ext cx="232486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FEFOから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自動除外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09610" y="4997196"/>
            <a:ext cx="228600" cy="9144"/>
          </a:xfrm>
          <a:prstGeom prst="line">
            <a:avLst/>
          </a:prstGeom>
          <a:noFill/>
          <a:ln w="15875">
            <a:solidFill>
              <a:srgbClr val="5A6B6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538210" y="4617720"/>
            <a:ext cx="2434590" cy="777240"/>
          </a:xfrm>
          <a:prstGeom prst="roundRect">
            <a:avLst>
              <a:gd name="adj" fmla="val 7059"/>
            </a:avLst>
          </a:prstGeom>
          <a:solidFill>
            <a:srgbClr val="00A89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93074" y="4617720"/>
            <a:ext cx="232486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検査後、生存量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登録 or 廃棄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主要機能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製造管理(カレンダー・デイリー)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MRPによる自動生成 + 手動追加、両対応のDraft管理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未確定/準備中/進行済みの4区分で、月間の状況を一望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デイリー画面から、日付ごとの配置・PLAN確定・検品完了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0" y="1554480"/>
            <a:ext cx="5029200" cy="384048"/>
          </a:xfrm>
          <a:prstGeom prst="roundRect">
            <a:avLst>
              <a:gd name="adj" fmla="val 14286"/>
            </a:avLst>
          </a:prstGeom>
          <a:solidFill>
            <a:srgbClr val="E1F5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20840" y="15544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フロント  </a:t>
            </a:r>
            <a:pPr indent="0" marL="0">
              <a:buNone/>
            </a:pP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Gridによるカレンダー描画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0" y="2048256"/>
            <a:ext cx="5029200" cy="1078992"/>
          </a:xfrm>
          <a:prstGeom prst="roundRect">
            <a:avLst>
              <a:gd name="adj" fmla="val 5085"/>
            </a:avLst>
          </a:prstGeom>
          <a:solidFill>
            <a:srgbClr val="FDEED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20840" y="2121408"/>
            <a:ext cx="4754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バック(アルゴリズム)  未配置プール方式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・batch_date = NULLを「未配置プール」として保持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・配置(assign-date)の瞬間に、初めてbatch_seqを採番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・現場の裁量で、日々の割り振りを柔軟に調整できる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カレンダーの4区分表示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5A6B6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617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未配置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プール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54680" y="461772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854F0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154680" y="4617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未確定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60720" y="461772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60720" y="4617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準備中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66760" y="461772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66760" y="4617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進行済み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主要機能 4 ★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製造実行 — FEFO自動選定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レシピの必要量に対し、賞味期限が近いロットから自動選定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1ロットで不足する場合は、複数ロットにまたがって引き当て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原料は産地制約、添加物は期限のみで選定基準を切替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0" y="1554480"/>
            <a:ext cx="5029200" cy="384048"/>
          </a:xfrm>
          <a:prstGeom prst="roundRect">
            <a:avLst>
              <a:gd name="adj" fmla="val 14286"/>
            </a:avLst>
          </a:prstGeom>
          <a:solidFill>
            <a:srgbClr val="E1F5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20840" y="15544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フロント  </a:t>
            </a:r>
            <a:pPr indent="0" marL="0">
              <a:buNone/>
            </a:pP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ダイヤルパッド式の数値入力UI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0" y="2048256"/>
            <a:ext cx="5029200" cy="1078992"/>
          </a:xfrm>
          <a:prstGeom prst="roundRect">
            <a:avLst>
              <a:gd name="adj" fmla="val 5085"/>
            </a:avLst>
          </a:prstGeom>
          <a:solidFill>
            <a:srgbClr val="FDEED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20840" y="2121408"/>
            <a:ext cx="4754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バック(アルゴリズム)  FEFO選定アルゴリズム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・候補ロットを賞味期限の昇順で取得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・必要量(remainingNeed)を、ロットの残量分ずつ減算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・0になるまで、次に期限が近いロットへ継続的に引当て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062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イメージ: 必要量200個に対する引き当て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1234440" cy="1005840"/>
          </a:xfrm>
          <a:prstGeom prst="roundRect">
            <a:avLst>
              <a:gd name="adj" fmla="val 5455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7091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ロットA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賞味期限 最短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212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783080" y="5111496"/>
            <a:ext cx="182880" cy="9144"/>
          </a:xfrm>
          <a:prstGeom prst="line">
            <a:avLst/>
          </a:prstGeom>
          <a:noFill/>
          <a:ln w="15875">
            <a:solidFill>
              <a:srgbClr val="5A6B6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965960" y="4617720"/>
            <a:ext cx="1234440" cy="1005840"/>
          </a:xfrm>
          <a:prstGeom prst="roundRect">
            <a:avLst>
              <a:gd name="adj" fmla="val 5455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965960" y="47091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ロットB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次に短い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965960" y="5212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5111496"/>
            <a:ext cx="182880" cy="9144"/>
          </a:xfrm>
          <a:prstGeom prst="line">
            <a:avLst/>
          </a:prstGeom>
          <a:noFill/>
          <a:ln w="15875">
            <a:solidFill>
              <a:srgbClr val="5A6B6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383280" y="4617720"/>
            <a:ext cx="1234440" cy="1005840"/>
          </a:xfrm>
          <a:prstGeom prst="roundRect">
            <a:avLst>
              <a:gd name="adj" fmla="val 5455"/>
            </a:avLst>
          </a:prstGeom>
          <a:solidFill>
            <a:srgbClr val="00A89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383280" y="47091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ロットC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5212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50個中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5111496"/>
            <a:ext cx="182880" cy="9144"/>
          </a:xfrm>
          <a:prstGeom prst="line">
            <a:avLst/>
          </a:prstGeom>
          <a:noFill/>
          <a:ln w="15875">
            <a:solidFill>
              <a:srgbClr val="5A6B6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800600" y="4617720"/>
            <a:ext cx="1234440" cy="1005840"/>
          </a:xfrm>
          <a:prstGeom prst="roundRect">
            <a:avLst>
              <a:gd name="adj" fmla="val 5455"/>
            </a:avLst>
          </a:prstGeom>
          <a:solidFill>
            <a:srgbClr val="E8E8E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00600" y="47091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ロットD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5212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未使用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主要機能 4 ★(続き)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製造実行 — 実測値の記録と誤差チェック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在庫の減算は、理論値ではなく作業員の「実測値」を使用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理論値合計と実測値合計を比較し、誤差2%を基準に警告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劣化などに気づいた場合、材料の廃棄・別ロット切替が可能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0" y="1554480"/>
            <a:ext cx="5029200" cy="384048"/>
          </a:xfrm>
          <a:prstGeom prst="roundRect">
            <a:avLst>
              <a:gd name="adj" fmla="val 14286"/>
            </a:avLst>
          </a:prstGeom>
          <a:solidFill>
            <a:srgbClr val="E1F5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20840" y="15544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フロント  </a:t>
            </a:r>
            <a:pPr indent="0" marL="0">
              <a:buNone/>
            </a:pP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誤差警告モーダル(ブロックしない設計)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0" y="2048256"/>
            <a:ext cx="5029200" cy="1078992"/>
          </a:xfrm>
          <a:prstGeom prst="roundRect">
            <a:avLst>
              <a:gd name="adj" fmla="val 5085"/>
            </a:avLst>
          </a:prstGeom>
          <a:solidFill>
            <a:srgbClr val="FDEED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20840" y="2121408"/>
            <a:ext cx="4754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バック(アルゴリズム)  理論値と実測値の分離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・FEFOの計算結果は「理論値(参考)」として保持するのみ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・実際の減算・記録は、必ず「実測値」を経由させる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・現場の実態(計量誤差)を、正確にトレースするための設計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主要機能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受注・出荷管理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取引先ごとに、残存期限(あと何日分必要か)を設定可能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出荷時も、商品ロットをFEFOで自動選定してプレビュー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1件の受注に含まれる複数商品を、まとめて1回で出荷登録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0" y="1554480"/>
            <a:ext cx="5029200" cy="384048"/>
          </a:xfrm>
          <a:prstGeom prst="roundRect">
            <a:avLst>
              <a:gd name="adj" fmla="val 14286"/>
            </a:avLst>
          </a:prstGeom>
          <a:solidFill>
            <a:srgbClr val="E1F5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20840" y="15544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フロント  </a:t>
            </a:r>
            <a:pPr indent="0" marL="0">
              <a:buNone/>
            </a:pP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受注明細ごとのFEFOプレビュー並列取得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0" y="2048256"/>
            <a:ext cx="5029200" cy="1078992"/>
          </a:xfrm>
          <a:prstGeom prst="roundRect">
            <a:avLst>
              <a:gd name="adj" fmla="val 5085"/>
            </a:avLst>
          </a:prstGeom>
          <a:solidFill>
            <a:srgbClr val="FDEED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20840" y="2121408"/>
            <a:ext cx="4754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バック(アルゴリズム)  判定ロジックの一元化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・残存日数 = 賞味期限日数 - 経過日数、を共通関数化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・プレビューと登録、双方で同一の計算式を必ず使用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・確認と実行で基準がズレる「抜け穴」を構造的に防止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062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イメージ: 残存期限ルールによる出荷可否判定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2434590" cy="777240"/>
          </a:xfrm>
          <a:prstGeom prst="roundRect">
            <a:avLst>
              <a:gd name="adj" fmla="val 7059"/>
            </a:avLst>
          </a:prstGeom>
          <a:solidFill>
            <a:srgbClr val="5A6B6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3504" y="4617720"/>
            <a:ext cx="232486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商品ロットを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FEFOで選定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83230" y="4997196"/>
            <a:ext cx="228600" cy="9144"/>
          </a:xfrm>
          <a:prstGeom prst="line">
            <a:avLst/>
          </a:prstGeom>
          <a:noFill/>
          <a:ln w="15875">
            <a:solidFill>
              <a:srgbClr val="5A6B6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11830" y="4617720"/>
            <a:ext cx="2434590" cy="777240"/>
          </a:xfrm>
          <a:prstGeom prst="roundRect">
            <a:avLst>
              <a:gd name="adj" fmla="val 7059"/>
            </a:avLst>
          </a:prstGeom>
          <a:solidFill>
            <a:srgbClr val="854F0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266694" y="4617720"/>
            <a:ext cx="232486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残存日数を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算出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46420" y="4997196"/>
            <a:ext cx="228600" cy="9144"/>
          </a:xfrm>
          <a:prstGeom prst="line">
            <a:avLst/>
          </a:prstGeom>
          <a:noFill/>
          <a:ln w="15875">
            <a:solidFill>
              <a:srgbClr val="5A6B6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875020" y="4617720"/>
            <a:ext cx="2434590" cy="77724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29884" y="4617720"/>
            <a:ext cx="232486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取引先の要求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日数と比較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09610" y="4997196"/>
            <a:ext cx="228600" cy="9144"/>
          </a:xfrm>
          <a:prstGeom prst="line">
            <a:avLst/>
          </a:prstGeom>
          <a:noFill/>
          <a:ln w="15875">
            <a:solidFill>
              <a:srgbClr val="5A6B6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538210" y="4617720"/>
            <a:ext cx="2434590" cy="777240"/>
          </a:xfrm>
          <a:prstGeom prst="roundRect">
            <a:avLst>
              <a:gd name="adj" fmla="val 7059"/>
            </a:avLst>
          </a:prstGeom>
          <a:solidFill>
            <a:srgbClr val="00A89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93074" y="4617720"/>
            <a:ext cx="232486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満たせば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出荷登録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主要機能 6 ★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トレーサビリティ — 製造実績一覧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1つの材料ロットが、どの製品バッチまで使われたか追跡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「結局受け入れ経由」「検査後の材料を使用」を可視化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商品名・ロット番号でのフリーテキスト検索、リスク絞込み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0" y="1554480"/>
            <a:ext cx="5029200" cy="384048"/>
          </a:xfrm>
          <a:prstGeom prst="roundRect">
            <a:avLst>
              <a:gd name="adj" fmla="val 14286"/>
            </a:avLst>
          </a:prstGeom>
          <a:solidFill>
            <a:srgbClr val="E1F5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20840" y="15544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フロント  </a:t>
            </a:r>
            <a:pPr indent="0" marL="0">
              <a:buNone/>
            </a:pP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検索・フィルターの動的絞込みUI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0" y="2048256"/>
            <a:ext cx="5029200" cy="1078992"/>
          </a:xfrm>
          <a:prstGeom prst="roundRect">
            <a:avLst>
              <a:gd name="adj" fmla="val 5085"/>
            </a:avLst>
          </a:prstGeom>
          <a:solidFill>
            <a:srgbClr val="FDEED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20840" y="2121408"/>
            <a:ext cx="4754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バック(アルゴリズム)  多段階JOINによる来歴復元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・batch_material_usage → material_lot → material と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・3テーブルを連結し、使用材料の詳細を1画面に集約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・製造日+商品ID+連番でロット番号を自動採番し検索可能に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イメージ: 材料ロットから、製品バッチへの追跡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66344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663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材料ロット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Test-A(米粉)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0" y="4572000"/>
            <a:ext cx="2103120" cy="594360"/>
          </a:xfrm>
          <a:prstGeom prst="roundRect">
            <a:avLst>
              <a:gd name="adj" fmla="val 9231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0" y="4572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うどん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20260822-1-01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5074920"/>
            <a:ext cx="914400" cy="-205740"/>
          </a:xfrm>
          <a:prstGeom prst="line">
            <a:avLst/>
          </a:prstGeom>
          <a:noFill/>
          <a:ln w="12700">
            <a:solidFill>
              <a:srgbClr val="5A6B6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657600" y="5330952"/>
            <a:ext cx="2103120" cy="594360"/>
          </a:xfrm>
          <a:prstGeom prst="roundRect">
            <a:avLst>
              <a:gd name="adj" fmla="val 9231"/>
            </a:avLst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0" y="533095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玄米うどん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20260822-3-02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5074920"/>
            <a:ext cx="914400" cy="553212"/>
          </a:xfrm>
          <a:prstGeom prst="line">
            <a:avLst/>
          </a:prstGeom>
          <a:noFill/>
          <a:ln w="12700">
            <a:solidFill>
              <a:srgbClr val="5A6B6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657600" y="6089904"/>
            <a:ext cx="2103120" cy="594360"/>
          </a:xfrm>
          <a:prstGeom prst="roundRect">
            <a:avLst>
              <a:gd name="adj" fmla="val 9231"/>
            </a:avLst>
          </a:prstGeom>
          <a:solidFill>
            <a:srgbClr val="00A89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657600" y="6089904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ラーメンウェーブ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20260822-2-01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0" y="5074920"/>
            <a:ext cx="914400" cy="1312164"/>
          </a:xfrm>
          <a:prstGeom prst="line">
            <a:avLst/>
          </a:prstGeom>
          <a:noFill/>
          <a:ln w="12700">
            <a:solidFill>
              <a:srgbClr val="5A6B6E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主要機能 7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セキュリティ設計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76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セッションベース認証(HttpOnly Cookie)を採用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パスワードはBCryptでハッシュ化し、平文を一切保持しない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業務理解度に応じた3階層の権限レベルを設計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5760720" cy="685800"/>
          </a:xfrm>
          <a:prstGeom prst="roundRect">
            <a:avLst>
              <a:gd name="adj" fmla="val 8000"/>
            </a:avLst>
          </a:prstGeom>
          <a:solidFill>
            <a:srgbClr val="F4F9F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368503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35661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一般作業員  </a:t>
            </a:r>
            <a:pPr indent="0" marL="0">
              <a:buNone/>
            </a:pPr>
            <a:r>
              <a:rPr lang="en-US" sz="12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日々のオペレーション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5760720" cy="685800"/>
          </a:xfrm>
          <a:prstGeom prst="roundRect">
            <a:avLst>
              <a:gd name="adj" fmla="val 8000"/>
            </a:avLst>
          </a:prstGeom>
          <a:solidFill>
            <a:srgbClr val="F4F9F8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455371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4553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4348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主任・リーダー  </a:t>
            </a:r>
            <a:pPr indent="0" marL="0">
              <a:buNone/>
            </a:pPr>
            <a:r>
              <a:rPr lang="en-US" sz="12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業務理解を要する判断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303520"/>
            <a:ext cx="5760720" cy="685800"/>
          </a:xfrm>
          <a:prstGeom prst="roundRect">
            <a:avLst>
              <a:gd name="adj" fmla="val 8000"/>
            </a:avLst>
          </a:prstGeom>
          <a:solidFill>
            <a:srgbClr val="F4F9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542239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5422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53035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管理者  </a:t>
            </a:r>
            <a:pPr indent="0" marL="0">
              <a:buNone/>
            </a:pPr>
            <a:r>
              <a:rPr lang="en-US" sz="12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最重要な操作・ユーザー管理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83680" y="1554480"/>
            <a:ext cx="5029200" cy="384048"/>
          </a:xfrm>
          <a:prstGeom prst="roundRect">
            <a:avLst>
              <a:gd name="adj" fmla="val 14286"/>
            </a:avLst>
          </a:prstGeom>
          <a:solidFill>
            <a:srgbClr val="E1F5E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20840" y="15544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フロント  </a:t>
            </a:r>
            <a:pPr indent="0" marL="0">
              <a:buNone/>
            </a:pP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AuthContext(ログイン状態の全体共有)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2048256"/>
            <a:ext cx="5029200" cy="1078992"/>
          </a:xfrm>
          <a:prstGeom prst="roundRect">
            <a:avLst>
              <a:gd name="adj" fmla="val 5085"/>
            </a:avLst>
          </a:prstGeom>
          <a:solidFill>
            <a:srgbClr val="FDEED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20840" y="2121408"/>
            <a:ext cx="4754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バック(アルゴリズム)  権限チェックの仕組み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・HttpSessionにログインユーザー情報を保持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・SecurityContextへ反映するフィルターを独自実装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・各操作の要求レベルを、共通ユーティリティで一元判定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抜粋: ログイン機能実装時点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データベース設計(ER図)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7830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3716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82496"/>
            <a:ext cx="1600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material_id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/ category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313432"/>
            <a:ext cx="1783080" cy="1275588"/>
          </a:xfrm>
          <a:prstGeom prst="roundRect">
            <a:avLst>
              <a:gd name="adj" fmla="val 3584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13432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3134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material_lot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624328"/>
            <a:ext cx="1600200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lot_id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material_id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expiry_date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remaining_qty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needs_review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845052"/>
            <a:ext cx="17830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845052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384505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material_arrival_line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155948"/>
            <a:ext cx="1600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line_id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order_id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0" y="1371600"/>
            <a:ext cx="17830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0" y="1371600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00A89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560320" y="13716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651760" y="1682496"/>
            <a:ext cx="1600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item_id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0" y="2313432"/>
            <a:ext cx="1783080" cy="882396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0" y="2313432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00A89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560320" y="23134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recipe_item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2651760" y="2624328"/>
            <a:ext cx="16002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recipe_item_id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item_id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material_id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0" y="3451860"/>
            <a:ext cx="178308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3451860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00A89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560320" y="34518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manufacturing_batch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651760" y="3762756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batch_id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item_id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batch_date/seq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0" y="4786884"/>
            <a:ext cx="1783080" cy="882396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0" y="4786884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00A89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560320" y="478688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batch_material_usage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2651760" y="5097780"/>
            <a:ext cx="16002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usage_id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batch_id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material_lot_id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371600"/>
            <a:ext cx="17830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1371600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663440" y="13716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754880" y="1682496"/>
            <a:ext cx="1600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customer_id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2313432"/>
            <a:ext cx="17830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2313432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663440" y="23134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customer_order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754880" y="2624328"/>
            <a:ext cx="1600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order_id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customer_id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255264"/>
            <a:ext cx="1783080" cy="882396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3255264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663440" y="325526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order_line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4754880" y="3566160"/>
            <a:ext cx="16002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line_id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order_id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item_id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4393692"/>
            <a:ext cx="1783080" cy="882396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4393692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663440" y="439369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shipment_line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4754880" y="4704588"/>
            <a:ext cx="16002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line_id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order_line_id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batch_id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766560" y="1371600"/>
            <a:ext cx="17830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66560" y="1371600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00A89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766560" y="13716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6858000" y="1682496"/>
            <a:ext cx="1600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supplier_id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766560" y="2313432"/>
            <a:ext cx="1783080" cy="882396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0" y="2313432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00A896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766560" y="23134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material_order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6858000" y="2624328"/>
            <a:ext cx="16002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order_id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material_id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supplier_ref_id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766560" y="3451860"/>
            <a:ext cx="17830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766560" y="3451860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00A896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6766560" y="34518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hold_resolution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6858000" y="3762756"/>
            <a:ext cx="1600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hold_id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line_id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766560" y="4393692"/>
            <a:ext cx="17830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766560" y="4393692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00A896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766560" y="439369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stock_adjustment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6858000" y="4704588"/>
            <a:ext cx="1600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adjustment_id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lot_id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869680" y="1371600"/>
            <a:ext cx="1920240" cy="1275588"/>
          </a:xfrm>
          <a:prstGeom prst="roundRect">
            <a:avLst>
              <a:gd name="adj" fmla="val 3584"/>
            </a:avLst>
          </a:prstGeom>
          <a:solidFill>
            <a:srgbClr val="FFFFFF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69680" y="1371600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854F0B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8869680" y="13716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67" name="Text 65"/>
          <p:cNvSpPr txBox="1"/>
          <p:nvPr/>
        </p:nvSpPr>
        <p:spPr>
          <a:xfrm>
            <a:off x="8961120" y="1682496"/>
            <a:ext cx="1737360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user_id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password_hash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access_level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is_active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1348740" y="2057400"/>
            <a:ext cx="0" cy="256032"/>
          </a:xfrm>
          <a:prstGeom prst="line">
            <a:avLst/>
          </a:prstGeom>
          <a:noFill/>
          <a:ln w="12700">
            <a:solidFill>
              <a:srgbClr val="5A6B6E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3451860" y="2057400"/>
            <a:ext cx="0" cy="256032"/>
          </a:xfrm>
          <a:prstGeom prst="line">
            <a:avLst/>
          </a:prstGeom>
          <a:noFill/>
          <a:ln w="12700">
            <a:solidFill>
              <a:srgbClr val="5A6B6E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3451860" y="3195828"/>
            <a:ext cx="0" cy="256032"/>
          </a:xfrm>
          <a:prstGeom prst="line">
            <a:avLst/>
          </a:prstGeom>
          <a:noFill/>
          <a:ln w="12700">
            <a:solidFill>
              <a:srgbClr val="5A6B6E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3451860" y="4530852"/>
            <a:ext cx="0" cy="256032"/>
          </a:xfrm>
          <a:prstGeom prst="line">
            <a:avLst/>
          </a:prstGeom>
          <a:noFill/>
          <a:ln w="12700">
            <a:solidFill>
              <a:srgbClr val="5A6B6E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2240280" y="2951226"/>
            <a:ext cx="320040" cy="-196596"/>
          </a:xfrm>
          <a:prstGeom prst="line">
            <a:avLst/>
          </a:prstGeom>
          <a:noFill/>
          <a:ln w="12700">
            <a:solidFill>
              <a:srgbClr val="5A6B6E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2240280" y="2951226"/>
            <a:ext cx="320040" cy="2276856"/>
          </a:xfrm>
          <a:prstGeom prst="line">
            <a:avLst/>
          </a:prstGeom>
          <a:noFill/>
          <a:ln w="12700">
            <a:solidFill>
              <a:srgbClr val="5A6B6E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5554980" y="2057400"/>
            <a:ext cx="0" cy="256032"/>
          </a:xfrm>
          <a:prstGeom prst="line">
            <a:avLst/>
          </a:prstGeom>
          <a:noFill/>
          <a:ln w="12700">
            <a:solidFill>
              <a:srgbClr val="5A6B6E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5554980" y="2999232"/>
            <a:ext cx="0" cy="256032"/>
          </a:xfrm>
          <a:prstGeom prst="line">
            <a:avLst/>
          </a:prstGeom>
          <a:noFill/>
          <a:ln w="12700">
            <a:solidFill>
              <a:srgbClr val="5A6B6E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5554980" y="4137660"/>
            <a:ext cx="0" cy="256032"/>
          </a:xfrm>
          <a:prstGeom prst="line">
            <a:avLst/>
          </a:prstGeom>
          <a:noFill/>
          <a:ln w="12700">
            <a:solidFill>
              <a:srgbClr val="5A6B6E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4343400" y="1714500"/>
            <a:ext cx="320040" cy="941832"/>
          </a:xfrm>
          <a:prstGeom prst="line">
            <a:avLst/>
          </a:prstGeom>
          <a:noFill/>
          <a:ln w="12700">
            <a:solidFill>
              <a:srgbClr val="5A6B6E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4343400" y="3991356"/>
            <a:ext cx="320040" cy="843534"/>
          </a:xfrm>
          <a:prstGeom prst="line">
            <a:avLst/>
          </a:prstGeom>
          <a:noFill/>
          <a:ln w="12700">
            <a:solidFill>
              <a:srgbClr val="5A6B6E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7658100" y="2057400"/>
            <a:ext cx="0" cy="256032"/>
          </a:xfrm>
          <a:prstGeom prst="line">
            <a:avLst/>
          </a:prstGeom>
          <a:noFill/>
          <a:ln w="12700">
            <a:solidFill>
              <a:srgbClr val="5A6B6E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7658100" y="3195828"/>
            <a:ext cx="0" cy="256032"/>
          </a:xfrm>
          <a:prstGeom prst="line">
            <a:avLst/>
          </a:prstGeom>
          <a:noFill/>
          <a:ln w="12700">
            <a:solidFill>
              <a:srgbClr val="5A6B6E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7658100" y="4137660"/>
            <a:ext cx="0" cy="256032"/>
          </a:xfrm>
          <a:prstGeom prst="line">
            <a:avLst/>
          </a:prstGeom>
          <a:noFill/>
          <a:ln w="12700">
            <a:solidFill>
              <a:srgbClr val="5A6B6E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2240280" y="1714500"/>
            <a:ext cx="4526280" cy="1040130"/>
          </a:xfrm>
          <a:prstGeom prst="line">
            <a:avLst/>
          </a:prstGeom>
          <a:noFill/>
          <a:ln w="12700">
            <a:solidFill>
              <a:srgbClr val="5A6B6E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2240280" y="2951226"/>
            <a:ext cx="4526280" cy="1785366"/>
          </a:xfrm>
          <a:prstGeom prst="line">
            <a:avLst/>
          </a:prstGeom>
          <a:noFill/>
          <a:ln w="12700">
            <a:solidFill>
              <a:srgbClr val="5A6B6E"/>
            </a:solidFill>
            <a:prstDash val="solid"/>
            <a:tailEnd type="triangle"/>
          </a:ln>
        </p:spPr>
      </p:sp>
      <p:sp>
        <p:nvSpPr>
          <p:cNvPr id="84" name="Text 82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全23テーブルの一部を抜粋。矢印は主な外部キー参照方向</a:t>
            </a:r>
            <a:endParaRPr lang="en-US" sz="1000" dirty="0"/>
          </a:p>
        </p:txBody>
      </p:sp>
      <p:sp>
        <p:nvSpPr>
          <p:cNvPr id="85" name="Text 83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今後の展望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9F8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権限チェックの全操作への適用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現在はマスタ管理のみ実装。発注・在庫・受注・出荷・製造の各操作へ、順次展開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9F8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200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緊急時の権限昇格フロー(スロー処理)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権限不足の操作を、上位権限者がその場で承認できる仕組み(設計は確定済み)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4805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9F8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617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同時実行の排他制御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0292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複数操作者が、同じ日の予定を同時編集した際の競合を防ぐ仕組み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まとめ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9601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紙・Excel管理から脱却し、日々の業務負荷を大きく軽減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材料ロット単位での、確かなトレーサビリティを実現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有事の際も、影響範囲を即座に特定できる仕組みを構築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760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ご清聴ありがとうございました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2026-08-27T15:59:26Z</dcterms:created>
  <dcterms:modified xsi:type="dcterms:W3CDTF">2026-08-27T15:59:26Z</dcterms:modified>
</cp:coreProperties>
</file>